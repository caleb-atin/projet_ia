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8C4C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8C4CE"/>
                </a:solidFill>
                <a:latin typeface="Arial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A4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4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4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4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86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Rég. Log.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SVM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52.94</c:v>
                </c:pt>
                <c:pt idx="1">
                  <c:v>52.76</c:v>
                </c:pt>
                <c:pt idx="2">
                  <c:v>53.49</c:v>
                </c:pt>
                <c:pt idx="3">
                  <c:v>54.6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50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C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A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Rég. Logistique</c:v>
                </c:pt>
              </c:strCache>
            </c:strRef>
          </c:tx>
          <c:spPr>
            <a:solidFill>
              <a:srgbClr val="2A4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52.94</c:v>
                </c:pt>
                <c:pt idx="1">
                  <c:v>49.82</c:v>
                </c:pt>
                <c:pt idx="2">
                  <c:v>48.92</c:v>
                </c:pt>
                <c:pt idx="3">
                  <c:v>51.01</c:v>
                </c:pt>
                <c:pt idx="4">
                  <c:v>49.91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CB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52.76</c:v>
                </c:pt>
                <c:pt idx="1">
                  <c:v>51.65</c:v>
                </c:pt>
                <c:pt idx="2">
                  <c:v>48.56</c:v>
                </c:pt>
                <c:pt idx="3">
                  <c:v>51.64</c:v>
                </c:pt>
                <c:pt idx="4">
                  <c:v>51.62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53.49</c:v>
                </c:pt>
                <c:pt idx="1">
                  <c:v>48.35</c:v>
                </c:pt>
                <c:pt idx="2">
                  <c:v>50</c:v>
                </c:pt>
                <c:pt idx="3">
                  <c:v>53.78</c:v>
                </c:pt>
                <c:pt idx="4">
                  <c:v>51.45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E886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54.6</c:v>
                </c:pt>
                <c:pt idx="1">
                  <c:v>54.78</c:v>
                </c:pt>
                <c:pt idx="2">
                  <c:v>49.82</c:v>
                </c:pt>
                <c:pt idx="3">
                  <c:v>50</c:v>
                </c:pt>
                <c:pt idx="4">
                  <c:v>52.65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46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C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E2A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Stratégie Modèle</c:v>
                </c:pt>
              </c:strCache>
            </c:strRef>
          </c:tx>
          <c:spPr>
            <a:solidFill>
              <a:srgbClr val="E886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62.1</c:v>
                </c:pt>
                <c:pt idx="1">
                  <c:v>47</c:v>
                </c:pt>
                <c:pt idx="2">
                  <c:v>19</c:v>
                </c:pt>
                <c:pt idx="3">
                  <c:v>236.1</c:v>
                </c:pt>
                <c:pt idx="4">
                  <c:v>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 &amp; Hold</c:v>
                </c:pt>
              </c:strCache>
            </c:strRef>
          </c:tx>
          <c:spPr>
            <a:solidFill>
              <a:srgbClr val="1CB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BNP.PA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62.1</c:v>
                </c:pt>
                <c:pt idx="1">
                  <c:v>47</c:v>
                </c:pt>
                <c:pt idx="2">
                  <c:v>74.3</c:v>
                </c:pt>
                <c:pt idx="3">
                  <c:v>156</c:v>
                </c:pt>
                <c:pt idx="4">
                  <c:v>-20.7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C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E2A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Présenter le groupe et le contexte du projet. Durée : 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rapidement les 7 sections. 30 secondes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la motivation du projet : financier + data = synergies naturelles.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Lancer l'application AVANT la présentation. Recommandé : BTC-USD sur 2024–2025.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Récapituler en 1 min. Inviter les questions. Avoir la slide 12 (tableau synthèse) sous la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A2540">
              <a:alpha val="80000"/>
            </a:srgbClr>
          </a:solidFill>
          <a:ln w="12700">
            <a:solidFill>
              <a:srgbClr val="0A254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0D3B5E">
              <a:alpha val="60000"/>
            </a:srgbClr>
          </a:solidFill>
          <a:ln w="12700">
            <a:solidFill>
              <a:srgbClr val="0D3B5E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300000">
            <a:off x="0" y="4114800"/>
            <a:ext cx="3200400" cy="1371600"/>
          </a:xfrm>
          <a:prstGeom prst="rect">
            <a:avLst/>
          </a:prstGeom>
          <a:solidFill>
            <a:srgbClr val="E8863A">
              <a:alpha val="85000"/>
            </a:srgbClr>
          </a:solidFill>
          <a:ln w="12700">
            <a:solidFill>
              <a:srgbClr val="E8863A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 ·  PROJET 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 DES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TENDANCES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BOURSIÈRES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temporelles financières  ·  Machine Learning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1CB5A0">
              <a:alpha val="70000"/>
            </a:srgbClr>
          </a:solidFill>
          <a:ln w="12700">
            <a:solidFill>
              <a:srgbClr val="1CB5A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605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6272" y="41605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1CB5A0">
              <a:alpha val="70000"/>
            </a:srgbClr>
          </a:solidFill>
          <a:ln w="12700">
            <a:solidFill>
              <a:srgbClr val="1CB5A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41605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03904" y="41605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E8863A">
              <a:alpha val="70000"/>
            </a:srgbClr>
          </a:solidFill>
          <a:ln w="12700">
            <a:solidFill>
              <a:srgbClr val="E8863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41605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BNP.PA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E8863A">
              <a:alpha val="70000"/>
            </a:srgbClr>
          </a:solidFill>
          <a:ln w="12700">
            <a:solidFill>
              <a:srgbClr val="E8863A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41605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59168" y="4160520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F2A93B">
              <a:alpha val="70000"/>
            </a:srgbClr>
          </a:solidFill>
          <a:ln w="12700">
            <a:solidFill>
              <a:srgbClr val="F2A93B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41605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87829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E8863A">
              <a:alpha val="75000"/>
            </a:srgbClr>
          </a:solidFill>
          <a:ln w="12700">
            <a:solidFill>
              <a:srgbClr val="E8863A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7829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6389" y="20848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47949" y="1554480"/>
            <a:ext cx="169817" cy="0"/>
          </a:xfrm>
          <a:prstGeom prst="line">
            <a:avLst/>
          </a:prstGeom>
          <a:noFill/>
          <a:ln w="12700">
            <a:solidFill>
              <a:srgbClr val="B8C4CE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3486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CB5A0">
              <a:alpha val="75000"/>
            </a:srgbClr>
          </a:solidFill>
          <a:ln w="12700">
            <a:solidFill>
              <a:srgbClr val="1CB5A0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63486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72046" y="20848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23606" y="1554480"/>
            <a:ext cx="169817" cy="0"/>
          </a:xfrm>
          <a:prstGeom prst="line">
            <a:avLst/>
          </a:prstGeom>
          <a:noFill/>
          <a:ln w="12700">
            <a:solidFill>
              <a:srgbClr val="B8C4CE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39143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E8863A">
              <a:alpha val="75000"/>
            </a:srgbClr>
          </a:solidFill>
          <a:ln w="12700">
            <a:solidFill>
              <a:srgbClr val="E8863A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39143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47703" y="20848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99263" y="1554480"/>
            <a:ext cx="169817" cy="0"/>
          </a:xfrm>
          <a:prstGeom prst="line">
            <a:avLst/>
          </a:prstGeom>
          <a:noFill/>
          <a:ln w="12700">
            <a:solidFill>
              <a:srgbClr val="B8C4CE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CB5A0">
              <a:alpha val="75000"/>
            </a:srgbClr>
          </a:solidFill>
          <a:ln w="12700">
            <a:solidFill>
              <a:srgbClr val="1CB5A0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23360" y="20848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554480"/>
            <a:ext cx="169817" cy="0"/>
          </a:xfrm>
          <a:prstGeom prst="line">
            <a:avLst/>
          </a:prstGeom>
          <a:noFill/>
          <a:ln w="12700">
            <a:solidFill>
              <a:srgbClr val="B8C4CE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0457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2A93B">
              <a:alpha val="75000"/>
            </a:srgbClr>
          </a:solidFill>
          <a:ln w="12700">
            <a:solidFill>
              <a:srgbClr val="F2A93B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90457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9017" y="20848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0577" y="1554480"/>
            <a:ext cx="169817" cy="0"/>
          </a:xfrm>
          <a:prstGeom prst="line">
            <a:avLst/>
          </a:prstGeom>
          <a:noFill/>
          <a:ln w="12700">
            <a:solidFill>
              <a:srgbClr val="B8C4CE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6114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E8543A">
              <a:alpha val="75000"/>
            </a:srgbClr>
          </a:solidFill>
          <a:ln w="12700">
            <a:solidFill>
              <a:srgbClr val="E8543A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66114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74674" y="20848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26234" y="1554480"/>
            <a:ext cx="169817" cy="0"/>
          </a:xfrm>
          <a:prstGeom prst="line">
            <a:avLst/>
          </a:prstGeom>
          <a:noFill/>
          <a:ln w="12700">
            <a:solidFill>
              <a:srgbClr val="B8C4CE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41771" y="10972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CB5A0">
              <a:alpha val="75000"/>
            </a:srgbClr>
          </a:solidFill>
          <a:ln w="12700">
            <a:solidFill>
              <a:srgbClr val="1CB5A0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41771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550331" y="20848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658368"/>
            <a:ext cx="2743200" cy="27432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3657600" cy="3657600"/>
          </a:xfrm>
          <a:prstGeom prst="ellipse">
            <a:avLst/>
          </a:prstGeom>
          <a:solidFill>
            <a:srgbClr val="E8863A">
              <a:alpha val="25000"/>
            </a:srgbClr>
          </a:solidFill>
          <a:ln w="12700">
            <a:solidFill>
              <a:srgbClr val="E8863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quantitative et Machine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64592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8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"Les marchés génèrent des milliards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D8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données. Le ML permet 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D8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détecter les signaux dans le bruit."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3566160"/>
            <a:ext cx="182880" cy="182880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JUSTIFICATION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défi au cœur de la finance moderne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49040"/>
          </a:xfrm>
          <a:prstGeom prst="roundRect">
            <a:avLst>
              <a:gd name="adj" fmla="val 482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1CB5A0"/>
          </a:solidFill>
          <a:ln w="12700">
            <a:solidFill>
              <a:srgbClr val="1CB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777240" cy="777240"/>
          </a:xfrm>
          <a:prstGeom prst="ellipse">
            <a:avLst/>
          </a:prstGeom>
          <a:solidFill>
            <a:srgbClr val="1CB5A0">
              <a:alpha val="8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COLOSSAUX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724912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milliards de $ échangés quotidiennement sur les marchés mondiaux — un signal existe dans ce bruit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51760" cy="3749040"/>
          </a:xfrm>
          <a:prstGeom prst="roundRect">
            <a:avLst>
              <a:gd name="adj" fmla="val 482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325880"/>
            <a:ext cx="777240" cy="777240"/>
          </a:xfrm>
          <a:prstGeom prst="ellipse">
            <a:avLst/>
          </a:prstGeom>
          <a:solidFill>
            <a:srgbClr val="E8863A">
              <a:alpha val="8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38988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DISPONIBLES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2724912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offre un accès gratuit à l'historique OHLCV complet (Open, High, Low, Close, Volume) de 2015 à 2025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1143000"/>
            <a:ext cx="2651760" cy="3749040"/>
          </a:xfrm>
          <a:prstGeom prst="roundRect">
            <a:avLst>
              <a:gd name="adj" fmla="val 482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143000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72200" y="1325880"/>
            <a:ext cx="777240" cy="777240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389888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COMME LEVIER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72200" y="2724912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 et SVM captent des patterns non-linéaires dans les séries temporelles inaccessibles aux modèles classiques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3657600" cy="3657600"/>
          </a:xfrm>
          <a:prstGeom prst="ellipse">
            <a:avLst/>
          </a:prstGeom>
          <a:solidFill>
            <a:srgbClr val="1CB5A0">
              <a:alpha val="18000"/>
            </a:srgbClr>
          </a:solidFill>
          <a:ln w="12700">
            <a:solidFill>
              <a:srgbClr val="1CB5A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la direction des prix financiers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binaire 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hausse (1) ou baisse (0) à J+1 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PROBLÉMATIQUE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&amp; Enjeux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863A">
              <a:alpha val="85000"/>
            </a:srgbClr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prédire si le prix d'un actif montera ou baissera le lendemain en utilisant uniquement l'historique de prix et des indicateurs techniques 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76272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E8863A">
              <a:alpha val="80000"/>
            </a:srgbClr>
          </a:solidFill>
          <a:ln w="12700">
            <a:solidFill>
              <a:srgbClr val="E8863A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762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 si Close(t+1) &gt; Close(t)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0  sinon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à horizon J+1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176272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176272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1CB5A0">
              <a:alpha val="80000"/>
            </a:srgbClr>
          </a:solidFill>
          <a:ln w="12700">
            <a:solidFill>
              <a:srgbClr val="1CB5A0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1762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ACTIFS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706624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 —  Apple Inc.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  —  Microsoft Corp.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BNP.PA  —  BNP Paribas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  —  Bitcoin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  —  Ethereum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76272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76272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E8863A">
              <a:alpha val="80000"/>
            </a:srgbClr>
          </a:solidFill>
          <a:ln w="12700">
            <a:solidFill>
              <a:srgbClr val="E8863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1762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706624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Directional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d'entraînement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modèle (Ko)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(simulation)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1828800"/>
            <a:ext cx="3657600" cy="3657600"/>
          </a:xfrm>
          <a:prstGeom prst="ellipse">
            <a:avLst/>
          </a:prstGeom>
          <a:solidFill>
            <a:srgbClr val="E8863A">
              <a:alpha val="20000"/>
            </a:srgbClr>
          </a:solidFill>
          <a:ln w="12700">
            <a:solidFill>
              <a:srgbClr val="E8863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— de la donnée brute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prédiction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2286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features  ·  GridSearchCV  ·  TimeSeriesSplit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CHOIX TECHNIQUES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ML — 6 ÉTAPES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1CB5A0">
              <a:alpha val="90000"/>
            </a:srgbClr>
          </a:solidFill>
          <a:ln w="12700">
            <a:solidFill>
              <a:srgbClr val="1CB5A0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7101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7465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093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91640" y="1828800"/>
            <a:ext cx="182880" cy="0"/>
          </a:xfrm>
          <a:prstGeom prst="line">
            <a:avLst/>
          </a:prstGeom>
          <a:noFill/>
          <a:ln w="1905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6232" y="12344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E8863A">
              <a:alpha val="90000"/>
            </a:srgbClr>
          </a:solidFill>
          <a:ln w="12700">
            <a:solidFill>
              <a:srgbClr val="E8863A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56232" y="127101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56232" y="17465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56232" y="2093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indicateurs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44952" y="1828800"/>
            <a:ext cx="182880" cy="0"/>
          </a:xfrm>
          <a:prstGeom prst="line">
            <a:avLst/>
          </a:prstGeom>
          <a:noFill/>
          <a:ln w="1905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12344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1CB5A0">
              <a:alpha val="90000"/>
            </a:srgbClr>
          </a:solidFill>
          <a:ln w="12700">
            <a:solidFill>
              <a:srgbClr val="1CB5A0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9544" y="127101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9544" y="17465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9544" y="2093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Chronologique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98264" y="1828800"/>
            <a:ext cx="182880" cy="0"/>
          </a:xfrm>
          <a:prstGeom prst="line">
            <a:avLst/>
          </a:prstGeom>
          <a:noFill/>
          <a:ln w="1905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12344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F2A93B">
              <a:alpha val="90000"/>
            </a:srgbClr>
          </a:solidFill>
          <a:ln w="12700">
            <a:solidFill>
              <a:srgbClr val="F2A93B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62856" y="127101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62856" y="17465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62856" y="2093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(RL &amp; SVM)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51576" y="1828800"/>
            <a:ext cx="182880" cy="0"/>
          </a:xfrm>
          <a:prstGeom prst="line">
            <a:avLst/>
          </a:prstGeom>
          <a:noFill/>
          <a:ln w="1905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16168" y="12344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E8863A">
              <a:alpha val="90000"/>
            </a:srgbClr>
          </a:solidFill>
          <a:ln w="12700">
            <a:solidFill>
              <a:srgbClr val="E8863A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16168" y="127101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16168" y="17465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16168" y="2093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04888" y="1828800"/>
            <a:ext cx="182880" cy="0"/>
          </a:xfrm>
          <a:prstGeom prst="line">
            <a:avLst/>
          </a:prstGeom>
          <a:noFill/>
          <a:ln w="1905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12344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1CB5A0">
              <a:alpha val="90000"/>
            </a:srgbClr>
          </a:solidFill>
          <a:ln w="12700">
            <a:solidFill>
              <a:srgbClr val="1CB5A0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69480" y="127101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69480" y="17465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2093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ticker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2633472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2633472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E8863A">
              <a:alpha val="80000"/>
            </a:srgbClr>
          </a:solidFill>
          <a:ln w="12700">
            <a:solidFill>
              <a:srgbClr val="E8863A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633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0175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5/20/50 · Croisements · Price vs SMA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03120" y="2633472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103120" y="2633472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CB5A0">
              <a:alpha val="80000"/>
            </a:srgbClr>
          </a:solidFill>
          <a:ln w="12700">
            <a:solidFill>
              <a:srgbClr val="1CB5A0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2633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30175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· RSI 14 · Bandes de Bollinger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2633472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40480" y="2633472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E8863A">
              <a:alpha val="80000"/>
            </a:srgbClr>
          </a:solidFill>
          <a:ln w="12700">
            <a:solidFill>
              <a:srgbClr val="E8863A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2633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31920" y="30175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ratio · OBV Change · ATR 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77840" y="2633472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2633472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CB5A0">
              <a:alpha val="80000"/>
            </a:srgbClr>
          </a:solidFill>
          <a:ln w="12700">
            <a:solidFill>
              <a:srgbClr val="1CB5A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2633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(J-1→J-3)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0" y="30175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lagué · RSI lagué · MACD lagué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15200" y="2633472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15200" y="2633472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E8863A">
              <a:alpha val="80000"/>
            </a:srgbClr>
          </a:solidFill>
          <a:ln w="12700">
            <a:solidFill>
              <a:srgbClr val="E8863A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2633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DÉRIVÉS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06640" y="30175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RSI_change · MACD_change · Volume_change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CHOIX TECHNIQUES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MODÈLES COMPARÉS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011680" cy="3794760"/>
          </a:xfrm>
          <a:prstGeom prst="roundRect">
            <a:avLst>
              <a:gd name="adj" fmla="val 6364"/>
            </a:avLst>
          </a:prstGeom>
          <a:solidFill>
            <a:srgbClr val="1E2A3A"/>
          </a:solidFill>
          <a:ln w="10160">
            <a:solidFill>
              <a:srgbClr val="B8C4CE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07008"/>
            <a:ext cx="1792224" cy="310896"/>
          </a:xfrm>
          <a:prstGeom prst="roundRect">
            <a:avLst>
              <a:gd name="adj" fmla="val 23529"/>
            </a:avLst>
          </a:prstGeom>
          <a:solidFill>
            <a:srgbClr val="B8C4CE">
              <a:alpha val="75000"/>
            </a:srgbClr>
          </a:solidFill>
          <a:ln w="12700">
            <a:solidFill>
              <a:srgbClr val="B8C4CE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0700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8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50592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de référence · Rapide · Interprétable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3749040"/>
            <a:ext cx="1792224" cy="0"/>
          </a:xfrm>
          <a:prstGeom prst="line">
            <a:avLst/>
          </a:prstGeom>
          <a:noFill/>
          <a:ln w="6350">
            <a:solidFill>
              <a:srgbClr val="B8C4CE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379476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&lt; 0.1s · Taille 1 Ko · Normalisation requise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115568"/>
            <a:ext cx="2011680" cy="3794760"/>
          </a:xfrm>
          <a:prstGeom prst="roundRect">
            <a:avLst>
              <a:gd name="adj" fmla="val 6364"/>
            </a:avLst>
          </a:prstGeom>
          <a:solidFill>
            <a:srgbClr val="1E2A3A"/>
          </a:solidFill>
          <a:ln w="10160">
            <a:solidFill>
              <a:srgbClr val="1CB5A0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207008"/>
            <a:ext cx="1792224" cy="310896"/>
          </a:xfrm>
          <a:prstGeom prst="roundRect">
            <a:avLst>
              <a:gd name="adj" fmla="val 23529"/>
            </a:avLst>
          </a:prstGeom>
          <a:solidFill>
            <a:srgbClr val="1CB5A0">
              <a:alpha val="75000"/>
            </a:srgbClr>
          </a:solidFill>
          <a:ln w="12700">
            <a:solidFill>
              <a:srgbClr val="1CB5A0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0700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591056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78608" y="2450592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100 arbres · Robuste au bruit et aux outliers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78608" y="3749040"/>
            <a:ext cx="1792224" cy="0"/>
          </a:xfrm>
          <a:prstGeom prst="line">
            <a:avLst/>
          </a:prstGeom>
          <a:noFill/>
          <a:ln w="6350">
            <a:solidFill>
              <a:srgbClr val="1CB5A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379476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natives · Pas de normalisation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115568"/>
            <a:ext cx="2011680" cy="3794760"/>
          </a:xfrm>
          <a:prstGeom prst="roundRect">
            <a:avLst>
              <a:gd name="adj" fmla="val 6364"/>
            </a:avLst>
          </a:prstGeom>
          <a:solidFill>
            <a:srgbClr val="1E2A3A"/>
          </a:solidFill>
          <a:ln w="10160">
            <a:solidFill>
              <a:srgbClr val="E8863A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1207008"/>
            <a:ext cx="1792224" cy="310896"/>
          </a:xfrm>
          <a:prstGeom prst="roundRect">
            <a:avLst>
              <a:gd name="adj" fmla="val 23529"/>
            </a:avLst>
          </a:prstGeom>
          <a:solidFill>
            <a:srgbClr val="E8863A">
              <a:alpha val="75000"/>
            </a:srgbClr>
          </a:solidFill>
          <a:ln w="12700">
            <a:solidFill>
              <a:srgbClr val="E8863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120700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7448" y="1591056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27448" y="2450592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optimisé · Très performant sur données tabulaires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27448" y="3749040"/>
            <a:ext cx="1792224" cy="0"/>
          </a:xfrm>
          <a:prstGeom prst="line">
            <a:avLst/>
          </a:prstGeom>
          <a:noFill/>
          <a:ln w="6350">
            <a:solidFill>
              <a:srgbClr val="E8863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79476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(200 Ko) · Rapide à l'inférence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1115568"/>
            <a:ext cx="2011680" cy="3794760"/>
          </a:xfrm>
          <a:prstGeom prst="roundRect">
            <a:avLst>
              <a:gd name="adj" fmla="val 6364"/>
            </a:avLst>
          </a:prstGeom>
          <a:solidFill>
            <a:srgbClr val="1E2A3A"/>
          </a:solidFill>
          <a:ln w="10160">
            <a:solidFill>
              <a:srgbClr val="F2A93B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76288" y="1207008"/>
            <a:ext cx="1792224" cy="310896"/>
          </a:xfrm>
          <a:prstGeom prst="roundRect">
            <a:avLst>
              <a:gd name="adj" fmla="val 23529"/>
            </a:avLst>
          </a:prstGeom>
          <a:solidFill>
            <a:srgbClr val="F2A93B">
              <a:alpha val="75000"/>
            </a:srgbClr>
          </a:solidFill>
          <a:ln w="12700">
            <a:solidFill>
              <a:srgbClr val="F2A93B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207008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76288" y="1591056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76288" y="2450592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RBF pour relations non-linéaires en haute dimension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76288" y="3749040"/>
            <a:ext cx="1792224" cy="0"/>
          </a:xfrm>
          <a:prstGeom prst="line">
            <a:avLst/>
          </a:prstGeom>
          <a:noFill/>
          <a:ln w="6350">
            <a:solidFill>
              <a:srgbClr val="F2A93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379476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meilleur sur petits/moyens datasets · Normalisation requise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914400"/>
            <a:ext cx="4572000" cy="4572000"/>
          </a:xfrm>
          <a:prstGeom prst="ellipse">
            <a:avLst/>
          </a:prstGeom>
          <a:solidFill>
            <a:srgbClr val="E8863A">
              <a:alpha val="18000"/>
            </a:srgbClr>
          </a:solidFill>
          <a:ln w="12700">
            <a:solidFill>
              <a:srgbClr val="E8863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4 modèles sur 5 actifs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·  F1-Score  ·  Sharpe  ·  Rendement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DÉTAILLÉ — APPLE (AAPL)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777240"/>
                <a:gridCol w="868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 (Ko)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Rég. Logistique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1 148.6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★ MEILLEUR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897880" y="1078992"/>
          <a:ext cx="2971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547872"/>
            <a:ext cx="8412480" cy="1325880"/>
          </a:xfrm>
          <a:prstGeom prst="roundRect">
            <a:avLst>
              <a:gd name="adj" fmla="val 6897"/>
            </a:avLst>
          </a:prstGeom>
          <a:solidFill>
            <a:srgbClr val="151E2D"/>
          </a:solidFill>
          <a:ln w="10160">
            <a:solidFill>
              <a:srgbClr val="E8863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360273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MEILLEUR MODÈLE SUR AAPL : SVM  —  Accuracy 54.60%  ·  F1-Score 0.7063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SVM avec noyau RBF capture des relations non-linéaires dans les features techniques. Son F1-Score élevé (0.71) traduit un excellent équilibre précision/rappel. L'accuracy dépasse le hasard (50%) de façon statistiquement significative (test binomial p &lt; 0.05).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— MEILLEUR MODÈLE PAR ACTIF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17320"/>
                <a:gridCol w="1005840"/>
                <a:gridCol w="1005840"/>
                <a:gridCol w="1188720"/>
                <a:gridCol w="118872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MODÈLE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RDMT MODÈLE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RDMT B&amp;H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M/B&amp;H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8E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 / 0.96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8E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 / 0.93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BNP.PA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8E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+74.3%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 / 1.13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BTC-USD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8E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+236.1%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 / 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ETH-USD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8E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4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 / 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52044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151E2D"/>
          </a:solidFill>
          <a:ln w="10160">
            <a:solidFill>
              <a:srgbClr val="1CB5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CLÉS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39136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domine sur les actions (AAPL, MSFT, ETH-USD)  ·  XGBoost excelle sur les actifs volatils (BNP.PA, BTC-USD)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Bitcoin : Modèle +236% vs Buy &amp; Hold +156%  —  Sharpe 1.43 vs 0.95  (meilleur rendement ajusté du risque)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PAR ACTIF ET PAR MODÈLE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78992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115568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1E2A3A"/>
          </a:solidFill>
          <a:ln w="10160">
            <a:solidFill>
              <a:srgbClr val="E8863A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2070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54.78%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0" y="17099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ACCURACY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0" y="199339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MSFT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92240" y="2414016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1E2A3A"/>
          </a:solidFill>
          <a:ln w="10160">
            <a:solidFill>
              <a:srgbClr val="F2A93B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250545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BNP.PA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3680" y="30083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LE + DIFFICILE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0" y="329184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 max 50.00%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92240" y="3712464"/>
            <a:ext cx="2331720" cy="1170432"/>
          </a:xfrm>
          <a:prstGeom prst="roundRect">
            <a:avLst>
              <a:gd name="adj" fmla="val 9375"/>
            </a:avLst>
          </a:prstGeom>
          <a:solidFill>
            <a:srgbClr val="1E2A3A"/>
          </a:solidFill>
          <a:ln w="10160">
            <a:solidFill>
              <a:srgbClr val="1CB5A0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380390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83680" y="43068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LE + RÉGULIER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3680" y="459028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victoires /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1CB5A0">
              <a:alpha val="20000"/>
            </a:srgbClr>
          </a:solidFill>
          <a:ln w="12700">
            <a:solidFill>
              <a:srgbClr val="1CB5A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TRADING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Modèle vs Buy &amp; Hold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286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cumulé  ·  Sharpe Ratio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SIMULATION DE TRADING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PERFORMANCES DE LA STRATÉGIE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78992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15568"/>
            <a:ext cx="2880360" cy="1371600"/>
          </a:xfrm>
          <a:prstGeom prst="roundRect">
            <a:avLst>
              <a:gd name="adj" fmla="val 8000"/>
            </a:avLst>
          </a:prstGeom>
          <a:solidFill>
            <a:srgbClr val="1E2A3A"/>
          </a:solidFill>
          <a:ln w="10160">
            <a:solidFill>
              <a:srgbClr val="E8863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2070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BTC-USD  ★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80760" y="1591056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+236.1%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: +156.0%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modèle : 1.43 vs 0.95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624328"/>
            <a:ext cx="2880360" cy="1371600"/>
          </a:xfrm>
          <a:prstGeom prst="roundRect">
            <a:avLst>
              <a:gd name="adj" fmla="val 8000"/>
            </a:avLst>
          </a:prstGeom>
          <a:solidFill>
            <a:srgbClr val="1E2A3A"/>
          </a:solidFill>
          <a:ln w="10160">
            <a:solidFill>
              <a:srgbClr val="1CB5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27157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ETH-USD  🛡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80760" y="3099816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+8.9%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: −20.7%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 évité la chute ETH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0416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51E2D"/>
          </a:solidFill>
          <a:ln w="10160">
            <a:solidFill>
              <a:srgbClr val="F2A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078224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Simulation sans coûts de transaction (spread + commission). Les rendements nets réels seraient inférieurs.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828800"/>
            <a:ext cx="4572000" cy="4572000"/>
          </a:xfrm>
          <a:prstGeom prst="ellipse">
            <a:avLst/>
          </a:prstGeom>
          <a:solidFill>
            <a:srgbClr val="E8543A">
              <a:alpha val="18000"/>
            </a:srgbClr>
          </a:solidFill>
          <a:ln w="12700">
            <a:solidFill>
              <a:srgbClr val="E8543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5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 scientifique et pistes d'amélioration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LIMITES &amp;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IDENTIFIÉES &amp; PISTES D'AMÉLIORATION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096512" cy="402336"/>
          </a:xfrm>
          <a:prstGeom prst="roundRect">
            <a:avLst>
              <a:gd name="adj" fmla="val 18182"/>
            </a:avLst>
          </a:prstGeom>
          <a:solidFill>
            <a:srgbClr val="E8543A">
              <a:alpha val="80000"/>
            </a:srgbClr>
          </a:solidFill>
          <a:ln w="12700">
            <a:solidFill>
              <a:srgbClr val="E8543A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15568"/>
            <a:ext cx="4096512" cy="402336"/>
          </a:xfrm>
          <a:prstGeom prst="roundRect">
            <a:avLst>
              <a:gd name="adj" fmla="val 18182"/>
            </a:avLst>
          </a:prstGeom>
          <a:solidFill>
            <a:srgbClr val="1CB5A0">
              <a:alpha val="80000"/>
            </a:srgbClr>
          </a:solidFill>
          <a:ln w="12700">
            <a:solidFill>
              <a:srgbClr val="1CB5A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155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51E2D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636776"/>
            <a:ext cx="420624" cy="420624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636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093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50–55% : signal faible mais statistiquement significatif (test binomial p &lt; 0.05)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295144"/>
            <a:ext cx="420624" cy="420624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2295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26771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sans coûts de transaction → rendements nets réels inférieurs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51E2D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2953512"/>
            <a:ext cx="420624" cy="420624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2953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purement techniques : absence de fondamentaux, sentiments NLP, variables macro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3611880"/>
            <a:ext cx="420624" cy="420624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3611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5844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identiques pour tous les tickers → pas d'optimisation ticker-spécifique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51E2D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4270248"/>
            <a:ext cx="420624" cy="420624"/>
          </a:xfrm>
          <a:prstGeom prst="ellipse">
            <a:avLst/>
          </a:prstGeom>
          <a:solidFill>
            <a:srgbClr val="E8543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4270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2428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de régime non capturés (crise COVID 2020, hausse taux 2022)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591056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51E2D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1636776"/>
            <a:ext cx="420624" cy="420624"/>
          </a:xfrm>
          <a:prstGeom prst="ellipse">
            <a:avLst/>
          </a:prstGeom>
          <a:solidFill>
            <a:srgbClr val="1CB5A0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18888" y="1636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6093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features de sentiment (NLP sur news financières / Twitter)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249424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2295144"/>
            <a:ext cx="420624" cy="420624"/>
          </a:xfrm>
          <a:prstGeom prst="ellipse">
            <a:avLst/>
          </a:prstGeom>
          <a:solidFill>
            <a:srgbClr val="1CB5A0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2295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226771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temporels : LSTM, Transformer financier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907792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51E2D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18888" y="2953512"/>
            <a:ext cx="420624" cy="420624"/>
          </a:xfrm>
          <a:prstGeom prst="ellipse">
            <a:avLst/>
          </a:prstGeom>
          <a:solidFill>
            <a:srgbClr val="1CB5A0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18888" y="2953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49240" y="292608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ticker-spécifique des hyperparamètres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566160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E2A3A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18888" y="3611880"/>
            <a:ext cx="420624" cy="420624"/>
          </a:xfrm>
          <a:prstGeom prst="ellipse">
            <a:avLst/>
          </a:prstGeom>
          <a:solidFill>
            <a:srgbClr val="1CB5A0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18888" y="3611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35844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compte des coûts de transaction dans la fonction objectif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4224528"/>
            <a:ext cx="4096512" cy="594360"/>
          </a:xfrm>
          <a:prstGeom prst="roundRect">
            <a:avLst>
              <a:gd name="adj" fmla="val 12308"/>
            </a:avLst>
          </a:prstGeom>
          <a:solidFill>
            <a:srgbClr val="151E2D"/>
          </a:solidFill>
          <a:ln w="6350">
            <a:solidFill>
              <a:srgbClr val="2A4A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18888" y="4270248"/>
            <a:ext cx="420624" cy="420624"/>
          </a:xfrm>
          <a:prstGeom prst="ellipse">
            <a:avLst/>
          </a:prstGeom>
          <a:solidFill>
            <a:srgbClr val="1CB5A0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18888" y="4270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49240" y="42428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d'ensemble (vote) entre SVM et XGBoost avec test de McNemar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3200400" cy="3200400"/>
          </a:xfrm>
          <a:prstGeom prst="ellipse">
            <a:avLst/>
          </a:prstGeom>
          <a:solidFill>
            <a:srgbClr val="1CB5A0">
              <a:alpha val="20000"/>
            </a:srgbClr>
          </a:solidFill>
          <a:ln w="12700">
            <a:solidFill>
              <a:srgbClr val="1CB5A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Streamlit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en temps réel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P&amp;L · Benchmark interactif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DÉMONSTRATION LIVE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STREAMLIT — GUIDE DE DÉMO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05840" cy="1005840"/>
          </a:xfrm>
          <a:prstGeom prst="ellipse">
            <a:avLst/>
          </a:prstGeom>
          <a:solidFill>
            <a:srgbClr val="E8863A">
              <a:alpha val="90000"/>
            </a:srgbClr>
          </a:solidFill>
          <a:ln w="12700">
            <a:solidFill>
              <a:srgbClr val="E8863A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 TICKER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40487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AAPL, MSFT, BNP.PA,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 ou ETH-USD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828800"/>
            <a:ext cx="1097280" cy="1508760"/>
          </a:xfrm>
          <a:prstGeom prst="line">
            <a:avLst/>
          </a:prstGeom>
          <a:noFill/>
          <a:ln w="2540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834640"/>
            <a:ext cx="1005840" cy="1005840"/>
          </a:xfrm>
          <a:prstGeom prst="ellipse">
            <a:avLst/>
          </a:prstGeom>
          <a:solidFill>
            <a:srgbClr val="1CB5A0">
              <a:alpha val="90000"/>
            </a:srgbClr>
          </a:solidFill>
          <a:ln w="12700">
            <a:solidFill>
              <a:srgbClr val="1CB5A0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39136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PÉRIODE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2212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de dates hors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d'entraînement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3337560"/>
            <a:ext cx="1280160" cy="-1508760"/>
          </a:xfrm>
          <a:prstGeom prst="line">
            <a:avLst/>
          </a:prstGeom>
          <a:noFill/>
          <a:ln w="2540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325880"/>
            <a:ext cx="1005840" cy="1005840"/>
          </a:xfrm>
          <a:prstGeom prst="ellipse">
            <a:avLst/>
          </a:prstGeom>
          <a:solidFill>
            <a:srgbClr val="E8863A">
              <a:alpha val="90000"/>
            </a:srgbClr>
          </a:solidFill>
          <a:ln w="12700">
            <a:solidFill>
              <a:srgbClr val="E8863A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325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822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LA PRÉDICTION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40487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PKL génère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signaux jour par jour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1188720" cy="1508760"/>
          </a:xfrm>
          <a:prstGeom prst="line">
            <a:avLst/>
          </a:prstGeom>
          <a:noFill/>
          <a:ln w="25400">
            <a:solidFill>
              <a:srgbClr val="B8C4CE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834640"/>
            <a:ext cx="1005840" cy="1005840"/>
          </a:xfrm>
          <a:prstGeom prst="ellipse">
            <a:avLst/>
          </a:prstGeom>
          <a:solidFill>
            <a:srgbClr val="1CB5A0">
              <a:alpha val="90000"/>
            </a:srgbClr>
          </a:solidFill>
          <a:ln w="12700">
            <a:solidFill>
              <a:srgbClr val="1CB5A0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39136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1C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 P&amp;L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0" y="22128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cumulé 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vs Buy &amp; Hold + Sharpe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553712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1CB5A0">
              <a:alpha val="80000"/>
            </a:srgbClr>
          </a:solidFill>
          <a:ln w="12700">
            <a:solidFill>
              <a:srgbClr val="1CB5A0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537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Démonstration live avec BTC-USD (hors période d'entraînement) pour montrer la surperformance du modèle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E8863A">
              <a:alpha val="18000"/>
            </a:srgbClr>
          </a:solidFill>
          <a:ln w="12700">
            <a:solidFill>
              <a:srgbClr val="E8863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1CB5A0">
              <a:alpha val="15000"/>
            </a:srgbClr>
          </a:solidFill>
          <a:ln w="12700">
            <a:solidFill>
              <a:srgbClr val="1CB5A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ACCOMPLI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E2A3A">
              <a:alpha val="80000"/>
            </a:srgbClr>
          </a:solidFill>
          <a:ln w="7620">
            <a:solidFill>
              <a:srgbClr val="1CB5A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130552"/>
            <a:ext cx="365760" cy="365760"/>
          </a:xfrm>
          <a:prstGeom prst="ellipse">
            <a:avLst/>
          </a:prstGeom>
          <a:solidFill>
            <a:srgbClr val="1CB5A0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103120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complet : 5 tickers · 4 modèles · GridSearchCV + TimeSeriesSplit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E2A3A">
              <a:alpha val="80000"/>
            </a:srgbClr>
          </a:solidFill>
          <a:ln w="7620">
            <a:solidFill>
              <a:srgbClr val="E886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60904"/>
            <a:ext cx="365760" cy="365760"/>
          </a:xfrm>
          <a:prstGeom prst="ellipse">
            <a:avLst/>
          </a:prstGeom>
          <a:solidFill>
            <a:srgbClr val="E8863A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633472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meilleur modèle sur 3/5 actifs — XGBoost excelle sur les actifs volatils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E2A3A">
              <a:alpha val="80000"/>
            </a:srgbClr>
          </a:solidFill>
          <a:ln w="7620">
            <a:solidFill>
              <a:srgbClr val="E886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91256"/>
            <a:ext cx="365760" cy="365760"/>
          </a:xfrm>
          <a:prstGeom prst="ellipse">
            <a:avLst/>
          </a:prstGeom>
          <a:solidFill>
            <a:srgbClr val="E8863A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91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163824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 : Modèle bat Buy &amp; Hold  (+236% vs +156%)  —  Sharpe 1.43 vs 0.95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7588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E2A3A">
              <a:alpha val="80000"/>
            </a:srgbClr>
          </a:solidFill>
          <a:ln w="7620">
            <a:solidFill>
              <a:srgbClr val="1CB5A0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721608"/>
            <a:ext cx="365760" cy="365760"/>
          </a:xfrm>
          <a:prstGeom prst="ellipse">
            <a:avLst/>
          </a:prstGeom>
          <a:solidFill>
            <a:srgbClr val="1CB5A0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3694176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 : Le modèle protège des baisses  (+8.9% vs −20.7% pour le Buy &amp; Hold)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1E2A3A">
              <a:alpha val="80000"/>
            </a:srgbClr>
          </a:solidFill>
          <a:ln w="7620">
            <a:solidFill>
              <a:srgbClr val="F2A93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251960"/>
            <a:ext cx="365760" cy="365760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4224528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Streamlit déployée avec prédictions et simulation P&amp;L en temps réel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4736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E88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 —  QUESTIONS ?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des Tendances Boursières — Groupe 5 v2</dc:title>
  <dc:subject>PptxGenJS Presentation</dc:subject>
  <dc:creator>PptxGenJS</dc:creator>
  <cp:lastModifiedBy>PptxGenJS</cp:lastModifiedBy>
  <cp:revision>1</cp:revision>
  <dcterms:created xsi:type="dcterms:W3CDTF">2026-06-21T19:42:07Z</dcterms:created>
  <dcterms:modified xsi:type="dcterms:W3CDTF">2026-06-21T19:42:07Z</dcterms:modified>
</cp:coreProperties>
</file>