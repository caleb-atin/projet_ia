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Arial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4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Rég. Log.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SVM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52.94</c:v>
                </c:pt>
                <c:pt idx="1">
                  <c:v>52.76</c:v>
                </c:pt>
                <c:pt idx="2">
                  <c:v>53.49</c:v>
                </c:pt>
                <c:pt idx="3">
                  <c:v>54.6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Rég. Logistique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52.94</c:v>
                </c:pt>
                <c:pt idx="1">
                  <c:v>49.82</c:v>
                </c:pt>
                <c:pt idx="2">
                  <c:v>48.92</c:v>
                </c:pt>
                <c:pt idx="3">
                  <c:v>51.01</c:v>
                </c:pt>
                <c:pt idx="4">
                  <c:v>49.91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52.76</c:v>
                </c:pt>
                <c:pt idx="1">
                  <c:v>51.65</c:v>
                </c:pt>
                <c:pt idx="2">
                  <c:v>48.56</c:v>
                </c:pt>
                <c:pt idx="3">
                  <c:v>51.64</c:v>
                </c:pt>
                <c:pt idx="4">
                  <c:v>51.62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53.49</c:v>
                </c:pt>
                <c:pt idx="1">
                  <c:v>48.35</c:v>
                </c:pt>
                <c:pt idx="2">
                  <c:v>50</c:v>
                </c:pt>
                <c:pt idx="3">
                  <c:v>53.78</c:v>
                </c:pt>
                <c:pt idx="4">
                  <c:v>51.45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E854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54.6</c:v>
                </c:pt>
                <c:pt idx="1">
                  <c:v>54.78</c:v>
                </c:pt>
                <c:pt idx="2">
                  <c:v>49.82</c:v>
                </c:pt>
                <c:pt idx="3">
                  <c:v>50</c:v>
                </c:pt>
                <c:pt idx="4">
                  <c:v>52.65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  <c:min val="4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Stratégie Modèle</c:v>
                </c:pt>
              </c:strCache>
            </c:strRef>
          </c:tx>
          <c:spPr>
            <a:solidFill>
              <a:srgbClr val="E854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62.1</c:v>
                </c:pt>
                <c:pt idx="1">
                  <c:v>47</c:v>
                </c:pt>
                <c:pt idx="2">
                  <c:v>19</c:v>
                </c:pt>
                <c:pt idx="3">
                  <c:v>236.1</c:v>
                </c:pt>
                <c:pt idx="4">
                  <c:v>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 &amp; Hold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62.1</c:v>
                </c:pt>
                <c:pt idx="1">
                  <c:v>47</c:v>
                </c:pt>
                <c:pt idx="2">
                  <c:v>74.3</c:v>
                </c:pt>
                <c:pt idx="3">
                  <c:v>156</c:v>
                </c:pt>
                <c:pt idx="4">
                  <c:v>-20.7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Présenter brièvement le groupe et le projet. Mentionner la durée : 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une vue d'ensemble rapide. 30 secondes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disponibilité des données via yfinance et la pertinence du ML pour ce type de problème.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difficulté principale : les marchés sont bruités. Une accuracy de 55% est déjà un signal fort en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stationnarité des features : OBV_change au lieu d'OBV cumulatif, SMA normalisées.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Souligner que GridSearchCV + TimeSeriesSplit garantit qu'il n'y a pas de fuite temporelle (data leakage) dans la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Mentionner que 54.6% vs 50% peut sembler faible mais représente un signal réel en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BTC est le cas le plus intéressant : le modèle surpasse le B&amp;H en rendement ajusté du risque.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ligne de 50% (hasard) est la référence. Tout ce qui dépasse est un signal exploitable.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les marchés haussiers (AAPL, MSFT), battre le B&amp;H est difficile. La vraie valeur du modèle apparaît sur des marchés baissiers ou latéraux.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minimiser les limites — les mentionner clairement renforce la crédibilité scientifique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Lancer l'application AVANT la présentation. Recommandé : BTC-USD sur 2024–2025 pour montrer la surperformance du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Récapituler en 1 minute. Inviter les questions. Avoir les résultats du tableau de synthèse sous la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457200" y="3840480"/>
            <a:ext cx="4114800" cy="1828800"/>
          </a:xfrm>
          <a:prstGeom prst="rect">
            <a:avLst/>
          </a:prstGeom>
          <a:solidFill>
            <a:srgbClr val="E8543A"/>
          </a:solidFill>
          <a:ln w="12700">
            <a:solidFill>
              <a:srgbClr val="E85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720000">
            <a:off x="6858000" y="-274320"/>
            <a:ext cx="3200400" cy="18288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IA — GROUPE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 des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Tendances Boursières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temporelles financières avec Machine Learning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0664" y="37490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13432" y="37490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37490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8543A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BNP.PA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58968" y="37490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8543A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31736" y="37490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2A93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1736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· Random Forest · XGBoost · SVM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1408176"/>
            <a:ext cx="420624" cy="365760"/>
          </a:xfrm>
          <a:prstGeom prst="roundRect">
            <a:avLst>
              <a:gd name="adj" fmla="val 15000"/>
            </a:avLst>
          </a:prstGeom>
          <a:solidFill>
            <a:srgbClr val="E8543A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40817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13075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Justification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16367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quantitative et 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" y="2276856"/>
            <a:ext cx="420624" cy="365760"/>
          </a:xfrm>
          <a:prstGeom prst="roundRect">
            <a:avLst>
              <a:gd name="adj" fmla="val 15000"/>
            </a:avLst>
          </a:prstGeom>
          <a:solidFill>
            <a:srgbClr val="E8543A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227685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" y="217627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0976" y="25054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direction des prix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" y="3145536"/>
            <a:ext cx="420624" cy="365760"/>
          </a:xfrm>
          <a:prstGeom prst="roundRect">
            <a:avLst>
              <a:gd name="adj" fmla="val 15000"/>
            </a:avLst>
          </a:prstGeom>
          <a:solidFill>
            <a:srgbClr val="E8543A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" y="314553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" y="304495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3741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Données, features, modèles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" y="4014216"/>
            <a:ext cx="420624" cy="365760"/>
          </a:xfrm>
          <a:prstGeom prst="roundRect">
            <a:avLst>
              <a:gd name="adj" fmla="val 15000"/>
            </a:avLst>
          </a:prstGeom>
          <a:solidFill>
            <a:srgbClr val="E8543A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401421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0976" y="391363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Benchmark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0976" y="42428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tickers, 4 modèles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3444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18304" y="1408176"/>
            <a:ext cx="420624" cy="365760"/>
          </a:xfrm>
          <a:prstGeom prst="roundRect">
            <a:avLst>
              <a:gd name="adj" fmla="val 15000"/>
            </a:avLst>
          </a:prstGeom>
          <a:solidFill>
            <a:srgbClr val="E8543A"/>
          </a:solidFill>
          <a:ln/>
        </p:spPr>
      </p:sp>
      <p:sp>
        <p:nvSpPr>
          <p:cNvPr id="27" name="Text 25"/>
          <p:cNvSpPr/>
          <p:nvPr/>
        </p:nvSpPr>
        <p:spPr>
          <a:xfrm>
            <a:off x="4718304" y="140817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48656" y="13075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 Trading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48656" y="16367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modèle vs Buy &amp; Hold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10312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2276856"/>
            <a:ext cx="420624" cy="365760"/>
          </a:xfrm>
          <a:prstGeom prst="roundRect">
            <a:avLst>
              <a:gd name="adj" fmla="val 15000"/>
            </a:avLst>
          </a:prstGeom>
          <a:solidFill>
            <a:srgbClr val="E8543A"/>
          </a:solidFill>
          <a:ln/>
        </p:spPr>
      </p:sp>
      <p:sp>
        <p:nvSpPr>
          <p:cNvPr id="32" name="Text 30"/>
          <p:cNvSpPr/>
          <p:nvPr/>
        </p:nvSpPr>
        <p:spPr>
          <a:xfrm>
            <a:off x="4718304" y="227685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48656" y="217627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48656" y="25054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à améliorer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97180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18304" y="3145536"/>
            <a:ext cx="420624" cy="365760"/>
          </a:xfrm>
          <a:prstGeom prst="roundRect">
            <a:avLst>
              <a:gd name="adj" fmla="val 15000"/>
            </a:avLst>
          </a:prstGeom>
          <a:solidFill>
            <a:srgbClr val="E8543A"/>
          </a:solidFill>
          <a:ln/>
        </p:spPr>
      </p:sp>
      <p:sp>
        <p:nvSpPr>
          <p:cNvPr id="37" name="Text 35"/>
          <p:cNvSpPr/>
          <p:nvPr/>
        </p:nvSpPr>
        <p:spPr>
          <a:xfrm>
            <a:off x="4718304" y="314553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48656" y="304495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48656" y="33741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JUSTIFICATION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prédire les marchés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financiers avec le ML 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063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l'hypothèse des marchés efficients aux algorithmes modernes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2880360"/>
            <a:ext cx="1645920" cy="73152"/>
          </a:xfrm>
          <a:prstGeom prst="ellipse">
            <a:avLst/>
          </a:prstGeom>
          <a:solidFill>
            <a:srgbClr val="E8543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défi au cœur de la finance moderne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marchés financiers génèrent des milliards de points de données chaque jour. Le Machine Learning offre de nouveaux outils pour détecter des signaux exploitables dans ce bruit apparent.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87168"/>
            <a:ext cx="640080" cy="64008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51176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2186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 colossaux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6301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milliards de $ échangés quotidiennement sur les marchés mondiaux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33172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2487168"/>
            <a:ext cx="640080" cy="640080"/>
          </a:xfrm>
          <a:prstGeom prst="ellipse">
            <a:avLst/>
          </a:prstGeom>
          <a:solidFill>
            <a:srgbClr val="F2A93B">
              <a:alpha val="8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551176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32186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disponibles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36301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donne accès gratuit à l'historique OHLCV de tous les actifs mondiaux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33172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2487168"/>
            <a:ext cx="640080" cy="640080"/>
          </a:xfrm>
          <a:prstGeom prst="ellipse">
            <a:avLst/>
          </a:prstGeom>
          <a:solidFill>
            <a:srgbClr val="E8543A">
              <a:alpha val="8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551176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32186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comme levier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72200" y="36301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 et SVM captent des patterns non-linéaires inaccessibles aux méthodes classiques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Prédire la direction des prix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063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: hausse (1) ou baisse (0) le lendemain 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2880360"/>
            <a:ext cx="1645920" cy="73152"/>
          </a:xfrm>
          <a:prstGeom prst="ellipse">
            <a:avLst/>
          </a:prstGeom>
          <a:solidFill>
            <a:srgbClr val="E8543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PROBLÉMATIQUE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&amp; Enjeux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51560"/>
          </a:xfrm>
          <a:prstGeom prst="roundRect">
            <a:avLst>
              <a:gd name="adj" fmla="val 12174"/>
            </a:avLst>
          </a:prstGeom>
          <a:solidFill>
            <a:srgbClr val="E8543A"/>
          </a:solidFill>
          <a:ln w="12700">
            <a:solidFill>
              <a:srgbClr val="E85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8229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prédire si le prix d'un actif montera ou baissera le lendemain,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s'appuyant uniquement sur l'historique des prix et des indicateurs techniques 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 si Close(t+1) &gt; Close(t)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0 sinon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de classification binaire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à horizon J+1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33172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Actifs analysés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— Apple Inc.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 — Microsoft Corp.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BNP.PA — BNP Paribas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 — Bitcoin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 — Ethereum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33172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d'évaluation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Directional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d'entraînement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modèle (Ko)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(simulation)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ML — de la donnée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 à la prédiction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063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Split chronologique · Optimisation des hyperparamètres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2880360"/>
            <a:ext cx="1645920" cy="73152"/>
          </a:xfrm>
          <a:prstGeom prst="ellipse">
            <a:avLst/>
          </a:prstGeom>
          <a:solidFill>
            <a:srgbClr val="E8543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CHOIX TECHNIQUES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de données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yfinance  |  Période : 2015–2025  |  Données : OHLCV quotidiennes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25196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2093976"/>
            <a:ext cx="201168" cy="566928"/>
          </a:xfrm>
          <a:prstGeom prst="roundRect">
            <a:avLst>
              <a:gd name="adj" fmla="val 22727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75104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5/20/50 (normalisées)  ·  Croisement SMA 5/20  ·  Price vs SMA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44368"/>
            <a:ext cx="425196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3118104"/>
            <a:ext cx="201168" cy="566928"/>
          </a:xfrm>
          <a:prstGeom prst="roundRect">
            <a:avLst>
              <a:gd name="adj" fmla="val 22727"/>
            </a:avLst>
          </a:prstGeom>
          <a:solidFill>
            <a:srgbClr val="E85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923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/ Oscillateurs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32841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+ Signal + Histogramme  ·  RSI 14  ·  Bandes de Bollinger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968496"/>
            <a:ext cx="425196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4142232"/>
            <a:ext cx="201168" cy="56692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35254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ratio (vs SMA20)  ·  OBV Change (stationnaire)  ·  ATR % du prix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192024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2093976"/>
            <a:ext cx="201168" cy="566928"/>
          </a:xfrm>
          <a:prstGeom prst="roundRect">
            <a:avLst>
              <a:gd name="adj" fmla="val 22727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197510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(J-1, J-2, J-3)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3042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quotidien lagué  ·  RSI, MACD, BB_pos lagués  ·  Volume ratio lagué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94436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65192" y="3118104"/>
            <a:ext cx="201168" cy="566928"/>
          </a:xfrm>
          <a:prstGeom prst="roundRect">
            <a:avLst>
              <a:gd name="adj" fmla="val 22727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99923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dérivé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32841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RSI_change, MACD_change  ·  Volume_change, ATR_change  ·  → Total : 35+ features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CHOIX TECHNIQUES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&amp; Modèles retenus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097280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10972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148132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181051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indicateurs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16916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1097280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10972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54680" y="148132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181051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16916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097280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F2A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10972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26280" y="148132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181051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(RL &amp; SVM only)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16916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1097280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10972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897880" y="148132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181051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16916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097280"/>
            <a:ext cx="1261872" cy="1188720"/>
          </a:xfrm>
          <a:prstGeom prst="roundRect">
            <a:avLst>
              <a:gd name="adj" fmla="val 9231"/>
            </a:avLst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0972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9480" y="148132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181051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ticker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MODÈLES COMPARÉS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907792"/>
            <a:ext cx="2029968" cy="1938528"/>
          </a:xfrm>
          <a:prstGeom prst="roundRect">
            <a:avLst>
              <a:gd name="adj" fmla="val 4717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29443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40156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linéaire, rapide, interprétable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98678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Normalisation requise  · Temps &lt; 0.1s · Taille 1 Ko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42032" y="2907792"/>
            <a:ext cx="2029968" cy="1938528"/>
          </a:xfrm>
          <a:prstGeom prst="roundRect">
            <a:avLst>
              <a:gd name="adj" fmla="val 4717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33472" y="29443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633472" y="340156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d'arbres, robuste au bruit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33472" y="398678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natives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18304" y="2907792"/>
            <a:ext cx="2029968" cy="1938528"/>
          </a:xfrm>
          <a:prstGeom prst="roundRect">
            <a:avLst>
              <a:gd name="adj" fmla="val 4717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09744" y="29443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9744" y="340156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gradient optimisé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9744" y="398678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· Rapide à inférence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94576" y="2907792"/>
            <a:ext cx="2029968" cy="1938528"/>
          </a:xfrm>
          <a:prstGeom prst="roundRect">
            <a:avLst>
              <a:gd name="adj" fmla="val 4717"/>
            </a:avLst>
          </a:prstGeom>
          <a:solidFill>
            <a:srgbClr val="F7F8FA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86016" y="29443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86016" y="340156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RBF pour relations non-linéaires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86016" y="398678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Normalisation requise  · Bon sur petits/moyens datasets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BENCHMARK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4 modèles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5 actifs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063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F1-Score · Directional Accuracy · Temps · Taille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2880360"/>
            <a:ext cx="1645920" cy="73152"/>
          </a:xfrm>
          <a:prstGeom prst="ellipse">
            <a:avLst/>
          </a:prstGeom>
          <a:solidFill>
            <a:srgbClr val="E8543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détaillé — Apple (AAPL)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  <a:gridCol w="777240"/>
                <a:gridCol w="868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 (Ko)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Rég. Logistique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1 148.6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943600" y="1051560"/>
          <a:ext cx="3017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52044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 w="10160">
            <a:solidFill>
              <a:srgbClr val="E854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356616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Meilleur modèle sur AAPL : SVM (Accuracy 54.60%, F1-Score 0.7063)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4005072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SVM avec noyau RBF capture des relations non-linéaires dans les features techniques. Son F1-Score élevé (0.71) traduit un bon équilibre précision/rappel. L'accuracy dépasse le hasard (50%) de manière statistiquement significative (test binomial p &lt; 0.05).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— Meilleur modèle par actif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005840"/>
                <a:gridCol w="1005840"/>
                <a:gridCol w="1188720"/>
                <a:gridCol w="11887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 modèle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Rdmt Modèle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Rdmt B&amp;H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(M / B&amp;H)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 / 0.96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 / 0.93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BNP.PA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 / 1.13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BTC-USD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 / 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ETH-USD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 / 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61188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EFF9F6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639312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Enseignements clés : SVM domine sur les actions (AAPL, MSFT, ETH-USD) · XGBoost excelle sur les actifs plus volatils (BNP.PA, BTC-USD) · Sur Bitcoin, la stratégie modèle surpasse le Buy &amp; Hold avec un Sharpe de 1.43 vs 0.95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par actif et par modèle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943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143000"/>
            <a:ext cx="2331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25272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54.78%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17099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accuracy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0" y="199339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MSFT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92240" y="2404872"/>
            <a:ext cx="2331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251460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BNP.PA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le + difficile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83680" y="325526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 max 50.00%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92240" y="3666744"/>
            <a:ext cx="2331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377647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83680" y="4233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le + régulier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83680" y="4517136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victoires sur 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 TRADING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Modèle vs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&amp; Hold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063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cumulé · Sharpe Ratio · Analyse par actif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2880360"/>
            <a:ext cx="1645920" cy="73152"/>
          </a:xfrm>
          <a:prstGeom prst="ellipse">
            <a:avLst/>
          </a:prstGeom>
          <a:solidFill>
            <a:srgbClr val="E8543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Performances de la stratégie de trading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97280"/>
            <a:ext cx="2926080" cy="1325880"/>
          </a:xfrm>
          <a:prstGeom prst="roundRect">
            <a:avLst>
              <a:gd name="adj" fmla="val 8276"/>
            </a:avLst>
          </a:prstGeom>
          <a:solidFill>
            <a:srgbClr val="FFF3EE"/>
          </a:solidFill>
          <a:ln w="10160">
            <a:solidFill>
              <a:srgbClr val="E854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143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BTC-USD — La star 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48132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+236.1%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: +156.0%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modèle : 1.43 vs 0.95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2578608"/>
            <a:ext cx="2926080" cy="1325880"/>
          </a:xfrm>
          <a:prstGeom prst="roundRect">
            <a:avLst>
              <a:gd name="adj" fmla="val 8276"/>
            </a:avLst>
          </a:prstGeom>
          <a:solidFill>
            <a:srgbClr val="EFF9F6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2624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ETH-USD — Protection 🛡️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0760" y="2962656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+8.9%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: −20.7%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 évité la chute ETH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4005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0160">
            <a:solidFill>
              <a:srgbClr val="F2A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04164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Note méthodologique : La simulation n'inclut pas les coûts de transaction (spread + commission). En pratique, chaque aller-retour réduit le rendement net de la stratégie modèle.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modèle ne fait pas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(encore)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063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Honnêteté scientifique et pistes d'amélioration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2880360"/>
            <a:ext cx="1645920" cy="73152"/>
          </a:xfrm>
          <a:prstGeom prst="ellipse">
            <a:avLst/>
          </a:prstGeom>
          <a:solidFill>
            <a:srgbClr val="E8543A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LIMITES &amp;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identifiées &amp; Pistes d'amélioration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E8543A"/>
          </a:solidFill>
          <a:ln w="12700">
            <a:solidFill>
              <a:srgbClr val="E854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338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6002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6350">
            <a:solidFill>
              <a:srgbClr val="F0D0C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162763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50–55% : signal faible mais statistiquement significatif (test binomial p &lt; 0.05)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221992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0D0C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224942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sans coûts de transaction → rendements nets réels inférieurs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843784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6350">
            <a:solidFill>
              <a:srgbClr val="F0D0C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287121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purement techniques : absence de fondamentaux, sentiments (NLP), macro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3465576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0D0C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349300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hyperparamètres pour tous les tickers → pas d'optimisation ticker-specific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408736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6350">
            <a:solidFill>
              <a:srgbClr val="F0D0C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" y="411480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 de régime non capturés (crise 2020 COVID, hausse taux 2022)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1097280"/>
            <a:ext cx="416052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13385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1208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663440" y="160020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EFF9F6"/>
          </a:solidFill>
          <a:ln w="6350">
            <a:solidFill>
              <a:srgbClr val="C8E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846320" y="162763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features de sentiment (NLP sur news/Twitter)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63440" y="2221992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C8E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846320" y="224942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temporels : LSTM, Transformer financier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663440" y="2843784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EFF9F6"/>
          </a:solidFill>
          <a:ln w="6350">
            <a:solidFill>
              <a:srgbClr val="C8E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846320" y="2871216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ticker-spécifique des hyperparamètres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663440" y="3465576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C8E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846320" y="349300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compte des coûts de transaction dans l'objectif d'optimisation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663440" y="408736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EFF9F6"/>
          </a:solidFill>
          <a:ln w="6350">
            <a:solidFill>
              <a:srgbClr val="C8E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846320" y="411480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d'ensemble (vote) entre SVM et XGBoost (test McNemar)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Streamlit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063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 en temps réel · Simulation P&amp;L · Benchmark interactif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2880360"/>
            <a:ext cx="1645920" cy="73152"/>
          </a:xfrm>
          <a:prstGeom prst="ellipse">
            <a:avLst/>
          </a:prstGeom>
          <a:solidFill>
            <a:srgbClr val="E8543A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DÉMONSTRATION LIVE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Streamlit — Guide de démo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69080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44168"/>
            <a:ext cx="594360" cy="594360"/>
          </a:xfrm>
          <a:prstGeom prst="ellipse">
            <a:avLst/>
          </a:prstGeom>
          <a:solidFill>
            <a:srgbClr val="E8543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44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71016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un ticker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AAPL, MSFT, BNP.PA, BTC-USD ou ETH-USD dans la liste déroulante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69080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035808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962656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une période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83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une plage de dates sur des données non vues du modèle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1143000"/>
            <a:ext cx="4069080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44168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44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1271016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 la prédiction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16916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meilleur modèle (pkl) génère les signaux de direction jour par jour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069080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35808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2962656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Voir le P&amp;L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383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du rendement cumulé : stratégie modèle vs Buy &amp; Hold, avec Sharpe Ratio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Démonstration live avec données BTC-USD (hors période d'entraînement) · Comparer la stratégie SVM vs Buy &amp; Hold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274320" y="3474720"/>
            <a:ext cx="4572000" cy="2286000"/>
          </a:xfrm>
          <a:prstGeom prst="rect">
            <a:avLst/>
          </a:prstGeom>
          <a:solidFill>
            <a:srgbClr val="E8543A">
              <a:alpha val="70000"/>
            </a:srgbClr>
          </a:solidFill>
          <a:ln w="12700">
            <a:solidFill>
              <a:srgbClr val="E8543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6858000" y="-457200"/>
            <a:ext cx="3200400" cy="2286000"/>
          </a:xfrm>
          <a:prstGeom prst="rect">
            <a:avLst/>
          </a:prstGeom>
          <a:solidFill>
            <a:srgbClr val="F2A93B">
              <a:alpha val="50000"/>
            </a:srgbClr>
          </a:solidFill>
          <a:ln w="12700">
            <a:solidFill>
              <a:srgbClr val="F2A93B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avons accompli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8046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Pipeline ML complet : 5 tickers · 4 modèles · GridSearchCV + TimeSeriesSplit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30552"/>
            <a:ext cx="8046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SVM meilleur modèle sur 3/5 actifs, XGBoost sur les actifs volatils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8046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2491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BTC-USD : modèle bat le Buy &amp; Hold (+236% vs +156%, Sharpe 1.43 vs 0.95)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8046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192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ETH-USD : modèle protège des baisses (+8.9% vs −20.7%)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8046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136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Application Streamlit déployée avec prédictions et simulation P&amp;L en temps réel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28800" y="464515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des Tendances Boursières — Groupe 5</dc:title>
  <dc:subject>PptxGenJS Presentation</dc:subject>
  <dc:creator>Groupe 5</dc:creator>
  <cp:lastModifiedBy>Groupe 5</cp:lastModifiedBy>
  <cp:revision>1</cp:revision>
  <dcterms:created xsi:type="dcterms:W3CDTF">2026-06-21T19:31:21Z</dcterms:created>
  <dcterms:modified xsi:type="dcterms:W3CDTF">2026-06-21T19:31:21Z</dcterms:modified>
</cp:coreProperties>
</file>